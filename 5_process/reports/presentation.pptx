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73D3CF"/>
                </a:solidFill>
                <a:latin typeface="Aptos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VN Labor News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9669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Từ dữ liệu thu thập đến bộ dữ liệu có kiểm tra và truy vết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1">
                <a:solidFill>
                  <a:srgbClr val="DCE7F4"/>
                </a:solidFill>
                <a:latin typeface="Aptos"/>
              </a:rPr>
              <a:t>12,784 bài  |  8 nguồn báo  |  01/2022–10/2026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9601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BECDDD"/>
                </a:solidFill>
                <a:latin typeface="Aptos"/>
              </a:rPr>
              <a:t>Báo cáo tích hợp Process • 27/10/2026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Mục tiêu và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Process chuẩn hóa và kiểm định dữ liệu — chưa huấn luyện mô hình.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Phân công Process 6 người; 00_input_profile.json; process_quality_report.md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Đầu vào chuẩn</a:t>
            </a:r>
          </a:p>
          <a:p>
            <a:pPr>
              <a:defRPr sz="1600">
                <a:solidFill>
                  <a:srgbClr val="263343"/>
                </a:solidFill>
                <a:latin typeface="Aptos"/>
              </a:defRPr>
            </a:pPr>
            <a:r>
              <a:t>CSV gốc 12.784 dòng, 16 cột; 8 nguồn báo; ngày đăng từ 2022-01-01 đến 2026-10-23.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Nguyên tắc dữ liệu</a:t>
            </a:r>
          </a:p>
          <a:p>
            <a:pPr>
              <a:defRPr sz="1600">
                <a:solidFill>
                  <a:srgbClr val="263343"/>
                </a:solidFill>
                <a:latin typeface="Aptos"/>
              </a:defRPr>
            </a:pPr>
            <a:r>
              <a:t>Raw chỉ đọc. Chuẩn hóa và làm sạch ở đầu ra riêng; giữ ID để truy vết; không xóa bài nghi trùng.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54480"/>
            <a:ext cx="3429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E2A63B"/>
                </a:solidFill>
                <a:latin typeface="Aptos Display"/>
              </a:rPr>
              <a:t>Giới hạn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Nhãn chủ đề tự động là weak labels; sentiment đang trống; địa danh là thông tin được trích, không khẳng định nơi sự kiện xảy 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1498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200" b="1">
                <a:solidFill>
                  <a:srgbClr val="162B4A"/>
                </a:solidFill>
                <a:latin typeface="Aptos"/>
              </a:rPr>
              <a:t>Mục tiêu bàn giao: pipeline chạy lại được, kết quả có bằng chứng kiểm tra, rủi ro chưa giải quyết được nêu rõ.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Pipeline và các cổng kiểm 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Mọi đầu ra đều liên kết lại bằng article_id; CSV nguồn không bị ghi đè.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README_PROCESS.md; integration_validation.json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084831" cy="2057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01  Profile + schema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12.784 × 16</a:t>
            </a:r>
            <a:br/>
            <a:r>
              <a:t>Schema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7772" y="2578608"/>
            <a:ext cx="16459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5D6C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828800"/>
            <a:ext cx="2084831" cy="2057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02  Metadata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Chuẩn hóa + audit</a:t>
            </a:r>
            <a:br/>
            <a:r>
              <a:t>không xóa bài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7195" y="2578608"/>
            <a:ext cx="16459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5D6C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7216" y="1828800"/>
            <a:ext cx="2084831" cy="2057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E2A63B"/>
                </a:solidFill>
                <a:latin typeface="Aptos Display"/>
              </a:rPr>
              <a:t>03  Text cleaning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title_clean</a:t>
            </a:r>
            <a:br/>
            <a:r>
              <a:t>content_clean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6620" y="2578608"/>
            <a:ext cx="16459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5D6C7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828800"/>
            <a:ext cx="2084831" cy="2057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04  Thống kê + split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3 manifest theo thời gian</a:t>
            </a:r>
            <a:br/>
            <a:r>
              <a:t>leakage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6044" y="2578608"/>
            <a:ext cx="16459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5D6C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56064" y="1828800"/>
            <a:ext cx="2084831" cy="2057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05  Tích hợp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Đối chiếu raw, ID,</a:t>
            </a:r>
            <a:br/>
            <a:r>
              <a:t>text,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10058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162B4A"/>
                </a:solidFill>
                <a:latin typeface="Aptos"/>
              </a:rPr>
              <a:t>Cổng cuối: 45/45 test Process + 7/7 test gốc; integration validation = PASS.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058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600" b="0">
                <a:solidFill>
                  <a:srgbClr val="263343"/>
                </a:solidFill>
                <a:latin typeface="Aptos"/>
              </a:rPr>
              <a:t>Kết quả tích hợp xác nhận 12.784 ID metadata, 12.784 dòng text-clean và 12.784 ID split khớp nguồn.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Hồ sơ dữ liệu và kiểm tra chất lượng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Raw preservation: checksum trước/sau giống nhau.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00_input_profile.json; 01_schema_validation.json; integration_validation.json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15468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62B4A"/>
                </a:solidFill>
                <a:latin typeface="Aptos Display"/>
              </a:rPr>
              <a:t>SHA-256</a:t>
            </a:r>
          </a:p>
          <a:p>
            <a:pPr>
              <a:defRPr sz="1900">
                <a:solidFill>
                  <a:srgbClr val="263343"/>
                </a:solidFill>
                <a:latin typeface="Aptos"/>
              </a:defRPr>
            </a:pPr>
            <a:r>
              <a:t>9ed13a4758ba6aec…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54480"/>
            <a:ext cx="315468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Ngày xuất bản</a:t>
            </a:r>
          </a:p>
          <a:p>
            <a:pPr>
              <a:defRPr sz="1800">
                <a:solidFill>
                  <a:srgbClr val="263343"/>
                </a:solidFill>
                <a:latin typeface="Aptos"/>
              </a:defRPr>
            </a:pPr>
            <a:r>
              <a:t>2022-01-01 → 2026-10-23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54480"/>
            <a:ext cx="379476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Schema</a:t>
            </a:r>
          </a:p>
          <a:p>
            <a:pPr>
              <a:defRPr sz="1800">
                <a:solidFill>
                  <a:srgbClr val="263343"/>
                </a:solidFill>
                <a:latin typeface="Aptos"/>
              </a:defRPr>
            </a:pPr>
            <a:r>
              <a:t>PASS • 0 lỗi Critical/High</a:t>
            </a:r>
          </a:p>
        </p:txBody>
      </p:sp>
      <p:pic>
        <p:nvPicPr>
          <p:cNvPr id="10" name="Picture 9" descr="articles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63240"/>
            <a:ext cx="548640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3383280"/>
            <a:ext cx="4983480" cy="2468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8 nguồn nằm trong danh sách chuẩn; article_id và source_url duy nhất.</a:t>
            </a:r>
          </a:p>
          <a:p>
            <a:pPr>
              <a:spcAft>
                <a:spcPts val="11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topic_secondary trống 5.746 dòng; sentiment trống 12.784 dòng — giữ nguyên trạng thái thiếu.</a:t>
            </a:r>
          </a:p>
          <a:p>
            <a:pPr>
              <a:spcAft>
                <a:spcPts val="11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word_count khác content.split() ở 11.953 dòng do khác định nghĩa đầu vào; không ghi đè giá trị raw.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Metadata và kiểm định nhãn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Tách rõ kiểm tra tự động, đề xuất rà soát và xác nhận của con người.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metadata_audit.md; label_quality.md; issue_log.csv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Metadata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14 thay đổi chuẩn hóa được ghi log; 9 lượt ngoại lai được đánh cờ; không xóa bản ghi.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Audit trùng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71 dòng review; 62 cụm metadata. Đây là ứng viên audit, không phải phán quyết xóa.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38328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E2A63B"/>
                </a:solidFill>
                <a:latin typeface="Aptos Display"/>
              </a:rPr>
              <a:t>Nhãn thủ công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0/57 đã được con người xác nhận.</a:t>
            </a:r>
            <a:br/>
            <a:r>
              <a:t>Còn 57 dòng chờ review.</a:t>
            </a:r>
          </a:p>
        </p:txBody>
      </p:sp>
      <p:pic>
        <p:nvPicPr>
          <p:cNvPr id="10" name="Picture 9" descr="articles_by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653796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3474720"/>
            <a:ext cx="3657600" cy="23774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Phân bố A–L mô tả nhãn tự động hiện có, không phải chất lượng nhãn.</a:t>
            </a:r>
          </a:p>
          <a:p>
            <a:pPr>
              <a:spcAft>
                <a:spcPts val="12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Không báo cáo precision/recall hay độ đồng thuận khi chưa có nhãn người.</a:t>
            </a:r>
          </a:p>
          <a:p>
            <a:pPr>
              <a:spcAft>
                <a:spcPts val="1200"/>
              </a:spcAft>
              <a:defRPr sz="1500">
                <a:solidFill>
                  <a:srgbClr val="263343"/>
                </a:solidFill>
                <a:latin typeface="Aptos"/>
              </a:defRPr>
            </a:pPr>
            <a:r>
              <a:t>Các gợi ý AI không được dùng làm kết quả review chính thức.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Thống kê mô tả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Độ dài được tính từ content theo whitespace split; không phải tokenizer ngôn ngữ.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process_statistics.md; charts được sinh từ create_splits_and_leakage_audit.py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articles_by_yea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766560" cy="4526280"/>
          </a:xfrm>
          <a:prstGeom prst="rect">
            <a:avLst/>
          </a:prstGeom>
        </p:spPr>
      </p:pic>
      <p:pic>
        <p:nvPicPr>
          <p:cNvPr id="8" name="Picture 7" descr="content_word_c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438912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4800600"/>
            <a:ext cx="3749039" cy="10515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Cách diễn giải</a:t>
            </a:r>
          </a:p>
          <a:p>
            <a:pPr>
              <a:defRPr sz="1300">
                <a:solidFill>
                  <a:srgbClr val="263343"/>
                </a:solidFill>
                <a:latin typeface="Aptos"/>
              </a:defRPr>
            </a:pPr>
            <a:r>
              <a:t>Số lượng theo thời gian và độ dài để mô tả dữ liệu; không suy ra tính đại diện xã hội.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Split theo thời gian và kiểm tra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Split là manifest mặc định để bàn giao, chưa phải quyết định cuối cho đánh giá mô hình.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split_validation.md; split_and_leakage_checks.json; handoff_to_modeling.md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TRAIN</a:t>
            </a:r>
          </a:p>
          <a:p>
            <a:pPr>
              <a:defRPr sz="1800">
                <a:solidFill>
                  <a:srgbClr val="263343"/>
                </a:solidFill>
                <a:latin typeface="Aptos"/>
              </a:defRPr>
            </a:pPr>
            <a:r>
              <a:t>8,213 bài • Trước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00200"/>
            <a:ext cx="333756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08589"/>
                </a:solidFill>
                <a:latin typeface="Aptos Display"/>
              </a:rPr>
              <a:t>VALIDATION</a:t>
            </a:r>
          </a:p>
          <a:p>
            <a:pPr>
              <a:defRPr sz="1800">
                <a:solidFill>
                  <a:srgbClr val="263343"/>
                </a:solidFill>
                <a:latin typeface="Aptos"/>
              </a:defRPr>
            </a:pPr>
            <a:r>
              <a:t>2,562 bài • Năm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00200"/>
            <a:ext cx="3337560" cy="14173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E2A63B"/>
                </a:solidFill>
                <a:latin typeface="Aptos Display"/>
              </a:rPr>
              <a:t>TEST</a:t>
            </a:r>
          </a:p>
          <a:p>
            <a:pPr>
              <a:defRPr sz="1800">
                <a:solidFill>
                  <a:srgbClr val="263343"/>
                </a:solidFill>
                <a:latin typeface="Aptos"/>
              </a:defRPr>
            </a:pPr>
            <a:r>
              <a:t>2,009 bài • Từ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212080" cy="16459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A68AD"/>
                </a:solidFill>
                <a:latin typeface="Aptos Display"/>
              </a:rPr>
              <a:t>Ứng viên tiêu đề</a:t>
            </a:r>
          </a:p>
          <a:p>
            <a:pPr>
              <a:defRPr sz="1600">
                <a:solidFill>
                  <a:srgbClr val="263343"/>
                </a:solidFill>
                <a:latin typeface="Aptos"/>
              </a:defRPr>
            </a:pPr>
            <a:r>
              <a:t>118 cặp được sàng lọc; 32 cặp nằm khác split. Không đồng nghĩa đã xác nhận trùng.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29000"/>
            <a:ext cx="5212080" cy="16459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46304" tIns="146304" bIns="9144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AB3A3A"/>
                </a:solidFill>
                <a:latin typeface="Aptos Display"/>
              </a:rPr>
              <a:t>Cụm metadata</a:t>
            </a:r>
          </a:p>
          <a:p>
            <a:pPr>
              <a:defRPr sz="1500">
                <a:solidFill>
                  <a:srgbClr val="263343"/>
                </a:solidFill>
                <a:latin typeface="Aptos"/>
              </a:defRPr>
            </a:pPr>
            <a:r>
              <a:t>2 cụm giao split: DUP-0037 (train/validation), DUP-0059 (validation/test). 65 ID liên quan được giữ ở review_hold.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162B4A"/>
                </a:solidFill>
                <a:latin typeface="Aptos"/>
              </a:rPr>
              <a:t>Chỉ dùng các dòng eligible; review và ghi quyết định trước khi đưa holdout trở lại.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Trạng thái bàn giao theo phân công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Phân biệt hoàn tất kỹ thuật với phần cần xác nhận hoặc bàn giao từ thành viên.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integration_checklist.md; process_quality_report.md; issue_log.csv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8589"/>
                </a:solidFill>
                <a:latin typeface="Aptos"/>
              </a:rPr>
              <a:t>Người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Profile, schema, tích hợp và đối chiếu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08760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008589"/>
                </a:solidFill>
                <a:latin typeface="Aptos"/>
              </a:rPr>
              <a:t>Hoàn tất kỹ thuật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A68AD"/>
                </a:solidFill>
                <a:latin typeface="Aptos"/>
              </a:rPr>
              <a:t>Người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67128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Metadata cleaning + danh sách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67128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2A68AD"/>
                </a:solidFill>
                <a:latin typeface="Aptos"/>
              </a:rPr>
              <a:t>Tích hợp; không xóa bài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25496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8589"/>
                </a:solidFill>
                <a:latin typeface="Aptos"/>
              </a:rPr>
              <a:t>Người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25496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Text cleaning + tests +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2549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008589"/>
                </a:solidFill>
                <a:latin typeface="Aptos"/>
              </a:rPr>
              <a:t>12.784 dòng đã kiểm 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83863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E2A63B"/>
                </a:solidFill>
                <a:latin typeface="Aptos"/>
              </a:rPr>
              <a:t>Người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83863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Hướng dẫn + mẫu + 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83863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E2A63B"/>
                </a:solidFill>
                <a:latin typeface="Aptos"/>
              </a:rPr>
              <a:t>57 nhãn chờ người xác nhận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42231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E2A63B"/>
                </a:solidFill>
                <a:latin typeface="Aptos"/>
              </a:rPr>
              <a:t>Người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142231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Thống kê + split + leakage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142231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E2A63B"/>
                </a:solidFill>
                <a:latin typeface="Aptos"/>
              </a:rPr>
              <a:t>65 ID đã biết ở review_hold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599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8589"/>
                </a:solidFill>
                <a:latin typeface="Aptos"/>
              </a:rPr>
              <a:t>Người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0599"/>
            <a:ext cx="5120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263343"/>
                </a:solidFill>
                <a:latin typeface="Aptos"/>
              </a:rPr>
              <a:t>Slide + ghi chú + nguồn số liệu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800599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008589"/>
                </a:solidFill>
                <a:latin typeface="Aptos"/>
              </a:rPr>
              <a:t>Đang bàn giao trong bộ này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1498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162B4A"/>
                </a:solidFill>
                <a:latin typeface="Aptos"/>
              </a:rPr>
              <a:t>Điều kiện còn lại: người review xác nhận nhãn; giữ holdout ngoài modeling đến khi có quyết định.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62B4A"/>
                </a:solidFill>
                <a:latin typeface="Aptos Display"/>
              </a:rPr>
              <a:t>Kết luận và 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D6C7D"/>
                </a:solidFill>
                <a:latin typeface="Aptos"/>
              </a:rPr>
              <a:t>Kết quả Process có thể tái tạo; chưa đồng nghĩa đã có bộ nhãn vàng hay mô hình được đánh giá.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927080" cy="32004"/>
          </a:xfrm>
          <a:prstGeom prst="rect">
            <a:avLst/>
          </a:prstGeom>
          <a:solidFill>
            <a:srgbClr val="00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5D6C7D"/>
                </a:solidFill>
                <a:latin typeface="Aptos"/>
              </a:rPr>
              <a:t>Nguồn: process_quality_report.md; labeling_guideline.md; handoff_to_modeling.md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11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D6C7D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241280" cy="34747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343"/>
                </a:solidFill>
                <a:latin typeface="Aptos"/>
              </a:defRPr>
            </a:pPr>
            <a:r>
              <a:t>Raw được bảo toàn; các bước xử lý có đầu ra riêng, kiểm thử và kiểm tra tích hợp.</a:t>
            </a:r>
          </a:p>
          <a:p>
            <a:pPr>
              <a:spcAft>
                <a:spcPts val="1500"/>
              </a:spcAft>
              <a:defRPr sz="1900">
                <a:solidFill>
                  <a:srgbClr val="263343"/>
                </a:solidFill>
                <a:latin typeface="Aptos"/>
              </a:defRPr>
            </a:pPr>
            <a:r>
              <a:t>Nhãn tự động A–L là weak labels; 57 mẫu chờ xác nhận người thật. Không dùng gợi ý AI như ground truth.</a:t>
            </a:r>
          </a:p>
          <a:p>
            <a:pPr>
              <a:spcAft>
                <a:spcPts val="1500"/>
              </a:spcAft>
              <a:defRPr sz="1900">
                <a:solidFill>
                  <a:srgbClr val="263343"/>
                </a:solidFill>
                <a:latin typeface="Aptos"/>
              </a:defRPr>
            </a:pPr>
            <a:r>
              <a:t>Sentiment chưa được gán; địa danh là nơi được nhắc trong nội dung, không mặc định là địa điểm sự kiện.</a:t>
            </a:r>
          </a:p>
          <a:p>
            <a:pPr>
              <a:spcAft>
                <a:spcPts val="1500"/>
              </a:spcAft>
              <a:defRPr sz="1900">
                <a:solidFill>
                  <a:srgbClr val="263343"/>
                </a:solidFill>
                <a:latin typeface="Aptos"/>
              </a:defRPr>
            </a:pPr>
            <a:r>
              <a:t>Dữ liệu báo chí không đại diện cho toàn xã hội; phân bố nguồn/chủ đề có thể lệch theo thời gian.</a:t>
            </a:r>
          </a:p>
          <a:p>
            <a:pPr>
              <a:spcAft>
                <a:spcPts val="1500"/>
              </a:spcAft>
              <a:defRPr sz="1900">
                <a:solidFill>
                  <a:srgbClr val="263343"/>
                </a:solidFill>
                <a:latin typeface="Aptos"/>
              </a:defRPr>
            </a:pPr>
            <a:r>
              <a:t>Không huấn luyện mô hình trong giai đoạn Process; cần rà soát leakage trước khi chốt đánh giá cuối.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149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8589"/>
                </a:solidFill>
                <a:latin typeface="Aptos"/>
              </a:rPr>
              <a:t>Không có toàn văn bài báo trong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